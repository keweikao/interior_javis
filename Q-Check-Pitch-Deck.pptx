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097280" cy="73152"/>
          </a:xfrm>
          <a:prstGeom prst="rect">
            <a:avLst/>
          </a:prstGeom>
          <a:solidFill>
            <a:srgbClr val="C4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C49756"/>
                </a:solidFill>
                <a:latin typeface="Microsoft JhengHei"/>
              </a:defRPr>
            </a:pPr>
            <a:r>
              <a:t>Q-Check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FAF5EF"/>
                </a:solidFill>
                <a:latin typeface="Microsoft JhengHei"/>
              </a:rPr>
              <a:t>室內裝修公司的</a:t>
            </a:r>
            <a:r>
              <a:rPr sz="3200" b="1">
                <a:solidFill>
                  <a:srgbClr val="FAF5EF"/>
                </a:solidFill>
                <a:latin typeface="Microsoft JhengHei"/>
              </a:rPr>
              <a:t>風險管理決策系統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968E"/>
                </a:solidFill>
                <a:latin typeface="Microsoft JhengHei"/>
              </a:defRPr>
            </a:pPr>
            <a:r>
              <a:t>讓報價階段的錯誤，不會留到施工階段。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68E"/>
                </a:solidFill>
                <a:latin typeface="Microsoft JhengHei"/>
              </a:defRPr>
            </a:pPr>
            <a:r>
              <a:t>第六組：呂賀云  /  高克瑋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68E"/>
                </a:solidFill>
                <a:latin typeface="Microsoft JhengHei"/>
              </a:defRPr>
            </a:pPr>
            <a:r>
              <a:t>業師：張佳欽    2026-03-24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968E"/>
                </a:solidFill>
                <a:latin typeface="Microsoft JhengHei"/>
              </a:defRPr>
            </a:pPr>
            <a:r>
              <a:t>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9756"/>
                </a:solidFill>
                <a:latin typeface="Microsoft JhengHei"/>
              </a:defRPr>
            </a:pPr>
            <a:r>
              <a:t>問題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0" cy="54864"/>
          </a:xfrm>
          <a:prstGeom prst="rect">
            <a:avLst/>
          </a:prstGeom>
          <a:solidFill>
            <a:srgbClr val="C4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AF5EF"/>
                </a:solidFill>
                <a:latin typeface="Microsoft JhengHei"/>
              </a:defRPr>
            </a:pPr>
            <a:r>
              <a:t>入行 2 年的設計師接了 30 坪中古屋翻新案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200"/>
              </a:spcBef>
              <a:defRPr sz="2000" b="0">
                <a:solidFill>
                  <a:srgbClr val="FAF5EF"/>
                </a:solidFill>
                <a:latin typeface="Microsoft JhengHei"/>
              </a:defRPr>
            </a:pPr>
            <a:r>
              <a:t>5 樓無電梯、屋齡 25 年、業主預算 180 萬</a:t>
            </a:r>
          </a:p>
          <a:p>
            <a:pPr algn="l">
              <a:spcBef>
                <a:spcPts val="1200"/>
              </a:spcBef>
              <a:defRPr sz="2000" b="0">
                <a:solidFill>
                  <a:srgbClr val="D48B4A"/>
                </a:solidFill>
                <a:latin typeface="Microsoft JhengHei"/>
              </a:defRPr>
            </a:pPr>
            <a:r>
              <a:t>報價漏了防水重做、垃圾清運、配電箱更換</a:t>
            </a:r>
          </a:p>
          <a:p>
            <a:pPr algn="l">
              <a:spcBef>
                <a:spcPts val="1200"/>
              </a:spcBef>
              <a:defRPr sz="2000" b="1">
                <a:solidFill>
                  <a:srgbClr val="C05C4C"/>
                </a:solidFill>
                <a:latin typeface="Microsoft JhengHei"/>
              </a:defRPr>
            </a:pPr>
            <a:r>
              <a:t>施工後追加 35 萬 — 業主崩潰、公司賠錢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9756"/>
                </a:solidFill>
                <a:latin typeface="Microsoft JhengHei"/>
              </a:defRPr>
            </a:pPr>
            <a:r>
              <a:t>認知落差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95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E"/>
                </a:solidFill>
                <a:latin typeface="Microsoft JhengHei"/>
              </a:defRPr>
            </a:pPr>
            <a:r>
              <a:t>報價寫了但雙方對「含什麼」理解不同，容易產生糾紛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9756"/>
                </a:solidFill>
                <a:latin typeface="Microsoft JhengHei"/>
              </a:defRPr>
            </a:pPr>
            <a:r>
              <a:t>漏項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035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E"/>
                </a:solidFill>
                <a:latin typeface="Microsoft JhengHei"/>
              </a:defRPr>
            </a:pPr>
            <a:r>
              <a:t>清運、防水、五金等項目常遺漏，直接侵蝕毛利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9756"/>
                </a:solidFill>
                <a:latin typeface="Microsoft JhengHei"/>
              </a:defRPr>
            </a:pPr>
            <a:r>
              <a:t>現場條件低估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6758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E"/>
                </a:solidFill>
                <a:latin typeface="Microsoft JhengHei"/>
              </a:defRPr>
            </a:pPr>
            <a:r>
              <a:t>無電梯搬運、老屋牆面狀況，追加費用更傷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0233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9756"/>
                </a:solidFill>
                <a:latin typeface="Microsoft JhengHei"/>
              </a:defRPr>
            </a:pPr>
            <a:r>
              <a:t>預算不合理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31596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E"/>
                </a:solidFill>
                <a:latin typeface="Microsoft JhengHei"/>
              </a:defRPr>
            </a:pPr>
            <a:r>
              <a:t>接了預算做不了的案子，整案利潤全失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9756"/>
                </a:solidFill>
                <a:latin typeface="Microsoft JhengHei"/>
              </a:defRPr>
            </a:pPr>
            <a:r>
              <a:t>報價階段修復 vs 施工階段修復，代價差 10 到 20 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54880"/>
            <a:ext cx="10698480" cy="12700"/>
          </a:xfrm>
          <a:prstGeom prst="rect">
            <a:avLst/>
          </a:prstGeom>
          <a:solidFill>
            <a:srgbClr val="4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9756"/>
                </a:solidFill>
                <a:latin typeface="Microsoft JhengHei"/>
              </a:defRPr>
            </a:pPr>
            <a:r>
              <a:t>為什麼現有方案都解決不了？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94960"/>
            <a:ext cx="2651760" cy="100584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440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5C4C"/>
                </a:solidFill>
                <a:latin typeface="Microsoft JhengHei"/>
              </a:defRPr>
            </a:pPr>
            <a:r>
              <a:t>Excel 模板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06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E"/>
                </a:solidFill>
                <a:latin typeface="Microsoft JhengHei"/>
              </a:defRPr>
            </a:pPr>
            <a:r>
              <a:t>有格式但沒有風險檢查，知識留在人腦裡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5394960"/>
            <a:ext cx="2651760" cy="100584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19" y="5440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5C4C"/>
                </a:solidFill>
                <a:latin typeface="Microsoft JhengHei"/>
              </a:defRPr>
            </a:pPr>
            <a:r>
              <a:t>口頭傳承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19" y="5806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E"/>
                </a:solidFill>
                <a:latin typeface="Microsoft JhengHei"/>
              </a:defRPr>
            </a:pPr>
            <a:r>
              <a:t>資深沒時間一對一教，帶 3 個人就是極限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599" y="5394960"/>
            <a:ext cx="2651760" cy="100584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59" y="5440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5C4C"/>
                </a:solidFill>
                <a:latin typeface="Microsoft JhengHei"/>
              </a:defRPr>
            </a:pPr>
            <a:r>
              <a:t>工程管理軟體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59" y="5806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E"/>
                </a:solidFill>
                <a:latin typeface="Microsoft JhengHei"/>
              </a:defRPr>
            </a:pPr>
            <a:r>
              <a:t>管施工不管報價，對設計公司太重太貴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968E"/>
                </a:solidFill>
                <a:latin typeface="Microsoft JhengHei"/>
              </a:defRPr>
            </a:pPr>
            <a:r>
              <a:t>3/12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9756"/>
                </a:solidFill>
                <a:latin typeface="Microsoft JhengHei"/>
              </a:defRPr>
            </a:pPr>
            <a:r>
              <a:t>Q-Check 怎麼運作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0" cy="54864"/>
          </a:xfrm>
          <a:prstGeom prst="rect">
            <a:avLst/>
          </a:prstGeom>
          <a:solidFill>
            <a:srgbClr val="C4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AF5EF"/>
                </a:solidFill>
                <a:latin typeface="Microsoft JhengHei"/>
              </a:defRPr>
            </a:pPr>
            <a:r>
              <a:t>培養設計師，不是取代設計師。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68E"/>
                </a:solidFill>
                <a:latin typeface="Microsoft JhengHei"/>
              </a:defRPr>
            </a:pPr>
            <a:r>
              <a:t>— 呂賀云（共同創辦人 / 10 年資深設計師）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6766560" cy="68580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9756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5EF"/>
                </a:solidFill>
                <a:latin typeface="Microsoft JhengHei"/>
              </a:defRPr>
            </a:pPr>
            <a:r>
              <a:t>預算快篩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49756"/>
                </a:solidFill>
                <a:latin typeface="Microsoft JhengHei"/>
              </a:defRPr>
            </a:pPr>
            <a:r>
              <a:t>這案子值不值得接？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6148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E"/>
                </a:solidFill>
                <a:latin typeface="Microsoft JhengHei"/>
              </a:defRPr>
            </a:pPr>
            <a:r>
              <a:t>輸入坪數、屋齡、預算，系統判斷預算是否合理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46120"/>
            <a:ext cx="6766560" cy="68580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A09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337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5EF"/>
                </a:solidFill>
                <a:latin typeface="Microsoft JhengHei"/>
              </a:defRPr>
            </a:pPr>
            <a:r>
              <a:t>結構化報價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EA09F"/>
                </a:solidFill>
                <a:latin typeface="Microsoft JhengHei"/>
              </a:defRPr>
            </a:pPr>
            <a:r>
              <a:t>該報哪些項目？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3016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E"/>
                </a:solidFill>
                <a:latin typeface="Microsoft JhengHei"/>
              </a:defRPr>
            </a:pPr>
            <a:r>
              <a:t>選案件類型自動帶入工項骨架，每項填寫含什麼、不含什麼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6766560" cy="68580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8B4A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06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5EF"/>
                </a:solidFill>
                <a:latin typeface="Microsoft JhengHei"/>
              </a:defRPr>
            </a:pPr>
            <a:r>
              <a:t>即時風險提醒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8B4A"/>
                </a:solidFill>
                <a:latin typeface="Microsoft JhengHei"/>
              </a:defRPr>
            </a:pPr>
            <a:r>
              <a:t>有沒有漏掉什麼？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49884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E"/>
                </a:solidFill>
                <a:latin typeface="Microsoft JhengHei"/>
              </a:defRPr>
            </a:pPr>
            <a:r>
              <a:t>根據 25 條以上工序連動規則，在旁邊即時提示風險和漏項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983479"/>
            <a:ext cx="6766560" cy="68580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0749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A87E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07491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5EF"/>
                </a:solidFill>
                <a:latin typeface="Microsoft JhengHei"/>
              </a:defRPr>
            </a:pPr>
            <a:r>
              <a:t>完成確認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507491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A87E"/>
                </a:solidFill>
                <a:latin typeface="Microsoft JhengHei"/>
              </a:defRPr>
            </a:pPr>
            <a:r>
              <a:t>可以安心送出了嗎？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367527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E"/>
                </a:solidFill>
                <a:latin typeface="Microsoft JhengHei"/>
              </a:defRPr>
            </a:pPr>
            <a:r>
              <a:t>逐項確認後產出 PDF 報價單和內部風險報告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2377440"/>
            <a:ext cx="3657600" cy="384048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9756"/>
                </a:solidFill>
                <a:latin typeface="Microsoft JhengHei"/>
              </a:defRPr>
            </a:pPr>
            <a:r>
              <a:t>「專業判斷」機制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92608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800"/>
              </a:spcBef>
              <a:defRPr sz="1300" b="0">
                <a:solidFill>
                  <a:srgbClr val="D48B4A"/>
                </a:solidFill>
                <a:latin typeface="Microsoft JhengHei"/>
              </a:defRPr>
            </a:pPr>
            <a:r>
              <a:t>系統提醒：「這個單價低於市場行情」</a:t>
            </a:r>
          </a:p>
          <a:p>
            <a:pPr algn="l">
              <a:spcBef>
                <a:spcPts val="200"/>
              </a:spcBef>
              <a:defRPr sz="800" b="0">
                <a:solidFill>
                  <a:srgbClr val="A0968E"/>
                </a:solidFill>
                <a:latin typeface="Microsoft JhengHe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FAF5EF"/>
                </a:solidFill>
                <a:latin typeface="Microsoft JhengHei"/>
              </a:defRPr>
            </a:pPr>
            <a:r>
              <a:t>設計師可以選擇：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FAF5EF"/>
                </a:solidFill>
                <a:latin typeface="Microsoft JhengHei"/>
              </a:defRPr>
            </a:pPr>
            <a:r>
              <a:t>  接受建議，調整單價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FAF5EF"/>
                </a:solidFill>
                <a:latin typeface="Microsoft JhengHei"/>
              </a:defRPr>
            </a:pPr>
            <a:r>
              <a:t>  或者行使專業判斷，寫下原因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A0968E"/>
                </a:solidFill>
                <a:latin typeface="Microsoft JhengHei"/>
              </a:defRPr>
            </a:pPr>
            <a:r>
              <a:t>  例如：「合作多年工班，有特殊價格」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A0968E"/>
                </a:solidFill>
                <a:latin typeface="Microsoft JhengHei"/>
              </a:defRPr>
            </a:pPr>
          </a:p>
          <a:p>
            <a:pPr algn="l">
              <a:spcBef>
                <a:spcPts val="400"/>
              </a:spcBef>
              <a:defRPr sz="1200" b="0">
                <a:solidFill>
                  <a:srgbClr val="C49756"/>
                </a:solidFill>
                <a:latin typeface="Microsoft JhengHei"/>
              </a:defRPr>
            </a:pPr>
            <a:r>
              <a:t>系統記錄這個決定，不再重複提醒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49756"/>
                </a:solidFill>
                <a:latin typeface="Microsoft JhengHei"/>
              </a:defRPr>
            </a:pPr>
            <a:r>
              <a:t>資深覆核時可以看到所有判斷紀錄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486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9756"/>
                </a:solidFill>
                <a:latin typeface="Microsoft JhengHei"/>
              </a:defRPr>
            </a:pPr>
            <a:r>
              <a:t>這讓系統分得出「故意的」和「不小心的」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C49756"/>
                </a:solidFill>
                <a:latin typeface="Microsoft JhengHe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968E"/>
                </a:solidFill>
                <a:latin typeface="Microsoft JhengHei"/>
              </a:defRPr>
            </a:pPr>
            <a:r>
              <a:t>用剛才的案子走一遍：30 坪中古屋、屋齡 25 年、預算 180 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49756"/>
                </a:solidFill>
                <a:latin typeface="Microsoft JhengHei"/>
              </a:defRPr>
            </a:pPr>
            <a:r>
              <a:t>https://q-check-demo.pages.dev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968E"/>
                </a:solidFill>
                <a:latin typeface="Microsoft JhengHei"/>
              </a:defRPr>
            </a:pPr>
            <a:r>
              <a:t>5/12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9756"/>
                </a:solidFill>
                <a:latin typeface="Microsoft JhengHei"/>
              </a:defRPr>
            </a:pPr>
            <a:r>
              <a:t>價值主張畫布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0" cy="54864"/>
          </a:xfrm>
          <a:prstGeom prst="rect">
            <a:avLst/>
          </a:prstGeom>
          <a:solidFill>
            <a:srgbClr val="C4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5EF"/>
                </a:solidFill>
                <a:latin typeface="Microsoft JhengHei"/>
              </a:defRPr>
            </a:pPr>
            <a:r>
              <a:t>三個角色的價值互相增強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57400"/>
            <a:ext cx="3657600" cy="365760"/>
          </a:xfrm>
          <a:prstGeom prst="roundRect">
            <a:avLst/>
          </a:prstGeom>
          <a:solidFill>
            <a:srgbClr val="7EA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8483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F5EF"/>
                </a:solidFill>
                <a:latin typeface="Microsoft JhengHei"/>
              </a:defRPr>
            </a:pPr>
            <a:r>
              <a:t>年輕設計師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14600"/>
            <a:ext cx="1737360" cy="384048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5603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49756"/>
                </a:solidFill>
                <a:latin typeface="Microsoft JhengHei"/>
              </a:defRPr>
            </a:pPr>
            <a:r>
              <a:t>產品與服務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74320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工項骨架一鍵帶入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含/不含欄位引導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即時風險提醒附解釋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56616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05C4C"/>
                </a:solidFill>
                <a:latin typeface="Microsoft JhengHei"/>
              </a:defRPr>
            </a:pPr>
            <a:r>
              <a:t>怎麼減少痛苦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7490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骨架帶入不會遺漏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提醒附「為什麼」是在學習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預算快篩不接錯案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457200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A87E"/>
                </a:solidFill>
                <a:latin typeface="Microsoft JhengHei"/>
              </a:defRPr>
            </a:pPr>
            <a:r>
              <a:t>怎麼創造收穫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75488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7EA09F"/>
                </a:solidFill>
                <a:latin typeface="Microsoft JhengHei"/>
              </a:defRPr>
            </a:pPr>
            <a:r>
              <a:t>報價一次通過覆核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7EA09F"/>
                </a:solidFill>
                <a:latin typeface="Microsoft JhengHei"/>
              </a:defRPr>
            </a:pPr>
            <a:r>
              <a:t>累積知識漸漸不需提醒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7EA09F"/>
                </a:solidFill>
                <a:latin typeface="Microsoft JhengHei"/>
              </a:defRPr>
            </a:pPr>
            <a:r>
              <a:t>專業判斷紀錄展現成長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2514600"/>
            <a:ext cx="1737360" cy="384048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13432" y="25603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49756"/>
                </a:solidFill>
                <a:latin typeface="Microsoft JhengHei"/>
              </a:defRPr>
            </a:pPr>
            <a:r>
              <a:t>顧客任務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3432" y="274320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獨立完成一份完整報價單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不漏項、不寫模糊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讓報價通過資深覆核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13432" y="356616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05C4C"/>
                </a:solidFill>
                <a:latin typeface="Microsoft JhengHei"/>
              </a:defRPr>
            </a:pPr>
            <a:r>
              <a:t>痛點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13432" y="37490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不知道自己漏了什麼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要等資深空下來才敢發報價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報價常被退回修改好幾次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3432" y="457200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A87E"/>
                </a:solidFill>
                <a:latin typeface="Microsoft JhengHei"/>
              </a:defRPr>
            </a:pPr>
            <a:r>
              <a:t>期望收穫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13432" y="475488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7EA09F"/>
                </a:solidFill>
                <a:latin typeface="Microsoft JhengHei"/>
              </a:defRPr>
            </a:pPr>
            <a:r>
              <a:t>報價品質提升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7EA09F"/>
                </a:solidFill>
                <a:latin typeface="Microsoft JhengHei"/>
              </a:defRPr>
            </a:pPr>
            <a:r>
              <a:t>不用等人就敢發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7EA09F"/>
                </a:solidFill>
                <a:latin typeface="Microsoft JhengHei"/>
              </a:defRPr>
            </a:pPr>
            <a:r>
              <a:t>客戶覺得很專業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2057400"/>
            <a:ext cx="3657600" cy="365760"/>
          </a:xfrm>
          <a:prstGeom prst="roundRect">
            <a:avLst/>
          </a:prstGeom>
          <a:solidFill>
            <a:srgbClr val="C4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208483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F5EF"/>
                </a:solidFill>
                <a:latin typeface="Microsoft JhengHei"/>
              </a:defRPr>
            </a:pPr>
            <a:r>
              <a:t>資深設計師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2514600"/>
            <a:ext cx="1737360" cy="384048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25603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49756"/>
                </a:solidFill>
                <a:latin typeface="Microsoft JhengHei"/>
              </a:defRPr>
            </a:pPr>
            <a:r>
              <a:t>產品與服務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2" y="274320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風險檢核報告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專業判斷清單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系統已檢查項目清單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356616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05C4C"/>
                </a:solidFill>
                <a:latin typeface="Microsoft JhengHei"/>
              </a:defRPr>
            </a:pPr>
            <a:r>
              <a:t>怎麼減少痛苦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37490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風險報告過濾規則性問題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只看需要經驗判斷的部分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判斷紀錄分辨故意或疏忽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457200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A87E"/>
                </a:solidFill>
                <a:latin typeface="Microsoft JhengHei"/>
              </a:defRPr>
            </a:pPr>
            <a:r>
              <a:t>怎麼創造收穫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475488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C49756"/>
                </a:solidFill>
                <a:latin typeface="Microsoft JhengHei"/>
              </a:defRPr>
            </a:pPr>
            <a:r>
              <a:t>省下時間經營客戶接新案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C49756"/>
                </a:solidFill>
                <a:latin typeface="Microsoft JhengHei"/>
              </a:defRPr>
            </a:pPr>
            <a:r>
              <a:t>經驗透過規則庫傳承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C49756"/>
                </a:solidFill>
                <a:latin typeface="Microsoft JhengHei"/>
              </a:defRPr>
            </a:pPr>
            <a:r>
              <a:t>看判斷紀錄掌握成長速度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0760" y="2514600"/>
            <a:ext cx="1737360" cy="384048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53912" y="25603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49756"/>
                </a:solidFill>
                <a:latin typeface="Microsoft JhengHei"/>
              </a:defRPr>
            </a:pPr>
            <a:r>
              <a:t>顧客任務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3912" y="274320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覆核年輕人的報價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同時管多個進行中案件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把經驗傳下去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3912" y="356616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05C4C"/>
                </a:solidFill>
                <a:latin typeface="Microsoft JhengHei"/>
              </a:defRPr>
            </a:pPr>
            <a:r>
              <a:t>痛點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53912" y="37490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大量時間花在覆核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同樣的錯教了很多次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自己的案在延遲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3912" y="457200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A87E"/>
                </a:solidFill>
                <a:latin typeface="Microsoft JhengHei"/>
              </a:defRPr>
            </a:pPr>
            <a:r>
              <a:t>期望收穫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53912" y="475488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C49756"/>
                </a:solidFill>
                <a:latin typeface="Microsoft JhengHei"/>
              </a:defRPr>
            </a:pPr>
            <a:r>
              <a:t>覆核時間縮短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C49756"/>
                </a:solidFill>
                <a:latin typeface="Microsoft JhengHei"/>
              </a:defRPr>
            </a:pPr>
            <a:r>
              <a:t>經驗變成公司資產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C49756"/>
                </a:solidFill>
                <a:latin typeface="Microsoft JhengHei"/>
              </a:defRPr>
            </a:pPr>
            <a:r>
              <a:t>看得出年輕人成長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2057400"/>
            <a:ext cx="3657600" cy="365760"/>
          </a:xfrm>
          <a:prstGeom prst="roundRect">
            <a:avLst/>
          </a:prstGeom>
          <a:solidFill>
            <a:srgbClr val="8B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208483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F5EF"/>
                </a:solidFill>
                <a:latin typeface="Microsoft JhengHei"/>
              </a:defRPr>
            </a:pPr>
            <a:r>
              <a:t>老闆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2514600"/>
            <a:ext cx="1737360" cy="384048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2" y="25603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49756"/>
                </a:solidFill>
                <a:latin typeface="Microsoft JhengHei"/>
              </a:defRPr>
            </a:pPr>
            <a:r>
              <a:t>產品與服務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274320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預算可行性快篩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品質標準化系統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PDF 報價單匯出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1312" y="356616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05C4C"/>
                </a:solidFill>
                <a:latin typeface="Microsoft JhengHei"/>
              </a:defRPr>
            </a:pPr>
            <a:r>
              <a:t>怎麼減少痛苦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1312" y="37490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預算快篩避免接錯案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品質標準化不靠個人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報價格式統一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2" y="457200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A87E"/>
                </a:solidFill>
                <a:latin typeface="Microsoft JhengHei"/>
              </a:defRPr>
            </a:pPr>
            <a:r>
              <a:t>怎麼創造收穫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1312" y="475488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8BA87E"/>
                </a:solidFill>
                <a:latin typeface="Microsoft JhengHei"/>
              </a:defRPr>
            </a:pPr>
            <a:r>
              <a:t>資深時間釋放接更多案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8BA87E"/>
                </a:solidFill>
                <a:latin typeface="Microsoft JhengHei"/>
              </a:defRPr>
            </a:pPr>
            <a:r>
              <a:t>年輕人更快能獨立作業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8BA87E"/>
                </a:solidFill>
                <a:latin typeface="Microsoft JhengHei"/>
              </a:defRPr>
            </a:pPr>
            <a:r>
              <a:t>知識留在公司不隨人走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21240" y="2514600"/>
            <a:ext cx="1737360" cy="384048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94392" y="25603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49756"/>
                </a:solidFill>
                <a:latin typeface="Microsoft JhengHei"/>
              </a:defRPr>
            </a:pPr>
            <a:r>
              <a:t>顧客任務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94392" y="274320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用現有人力接更多案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控制追加風險和毛利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培養年輕設計師獨立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94392" y="356616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05C4C"/>
                </a:solidFill>
                <a:latin typeface="Microsoft JhengHei"/>
              </a:defRPr>
            </a:pPr>
            <a:r>
              <a:t>痛點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94392" y="37490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人力有限案量受限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年輕人要很久才獨立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FAF5EF"/>
                </a:solidFill>
                <a:latin typeface="Microsoft JhengHei"/>
              </a:defRPr>
            </a:pPr>
            <a:r>
              <a:t>追加費用侵蝕毛利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94392" y="457200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A87E"/>
                </a:solidFill>
                <a:latin typeface="Microsoft JhengHei"/>
              </a:defRPr>
            </a:pPr>
            <a:r>
              <a:t>期望收穫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94392" y="475488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8BA87E"/>
                </a:solidFill>
                <a:latin typeface="Microsoft JhengHei"/>
              </a:defRPr>
            </a:pPr>
            <a:r>
              <a:t>同樣人力接更多案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8BA87E"/>
                </a:solidFill>
                <a:latin typeface="Microsoft JhengHei"/>
              </a:defRPr>
            </a:pPr>
            <a:r>
              <a:t>年輕設計師更快獨立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8BA87E"/>
                </a:solidFill>
                <a:latin typeface="Microsoft JhengHei"/>
              </a:defRPr>
            </a:pPr>
            <a:r>
              <a:t>品質不依賴特定個人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49756"/>
                </a:solidFill>
                <a:latin typeface="Microsoft JhengHei"/>
              </a:defRPr>
            </a:pPr>
            <a:r>
              <a:t>三者互相增強：年輕人底氣提升 → 資深覆核減少 → 老闆產能提升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968E"/>
                </a:solidFill>
                <a:latin typeface="Microsoft JhengHei"/>
              </a:defRPr>
            </a:pPr>
            <a:r>
              <a:t>6/12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9756"/>
                </a:solidFill>
                <a:latin typeface="Microsoft JhengHei"/>
              </a:defRPr>
            </a:pPr>
            <a:r>
              <a:t>市場機會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0" cy="54864"/>
          </a:xfrm>
          <a:prstGeom prst="rect">
            <a:avLst/>
          </a:prstGeom>
          <a:solidFill>
            <a:srgbClr val="C4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5EF"/>
                </a:solidFill>
                <a:latin typeface="Microsoft JhengHei"/>
              </a:defRPr>
            </a:pPr>
            <a:r>
              <a:t>台灣裝修年產值 5,500 億，風險管理是空白地帶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6400800" cy="640080"/>
          </a:xfrm>
          <a:prstGeom prst="roundRect">
            <a:avLst/>
          </a:prstGeom>
          <a:solidFill>
            <a:srgbClr val="4A3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F5EF"/>
                </a:solidFill>
                <a:latin typeface="Microsoft JhengHei"/>
              </a:defRPr>
            </a:pPr>
            <a:r>
              <a:t>總潛在市場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2128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5EF"/>
                </a:solidFill>
                <a:latin typeface="Microsoft JhengHei"/>
              </a:defRPr>
            </a:pPr>
            <a:r>
              <a:t>全台設計公司約 17,000 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2926080"/>
            <a:ext cx="5029200" cy="640080"/>
          </a:xfrm>
          <a:prstGeom prst="roundRect">
            <a:avLst/>
          </a:prstGeom>
          <a:solidFill>
            <a:srgbClr val="5A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3017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F5EF"/>
                </a:solidFill>
                <a:latin typeface="Microsoft JhengHei"/>
              </a:defRPr>
            </a:pPr>
            <a:r>
              <a:t>可服務市場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0358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5EF"/>
                </a:solidFill>
                <a:latin typeface="Microsoft JhengHei"/>
              </a:defRPr>
            </a:pPr>
            <a:r>
              <a:t>3 人以上中型公司約 3,000-4,000 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3749040"/>
            <a:ext cx="3657600" cy="640080"/>
          </a:xfrm>
          <a:prstGeom prst="roundRect">
            <a:avLst/>
          </a:prstGeom>
          <a:solidFill>
            <a:srgbClr val="C4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840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F5EF"/>
                </a:solidFill>
                <a:latin typeface="Microsoft JhengHei"/>
              </a:defRPr>
            </a:pPr>
            <a:r>
              <a:t>首年目標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8587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5EF"/>
                </a:solidFill>
                <a:latin typeface="Microsoft JhengHei"/>
              </a:defRPr>
            </a:pPr>
            <a:r>
              <a:t>人脈能觸及 50-100 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103120"/>
            <a:ext cx="3840480" cy="411480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194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9756"/>
                </a:solidFill>
                <a:latin typeface="Microsoft JhengHei"/>
              </a:defRPr>
            </a:pPr>
            <a:r>
              <a:t>為什麼是現在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651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9756"/>
                </a:solidFill>
                <a:latin typeface="Microsoft JhengHei"/>
              </a:defRPr>
            </a:pPr>
            <a:r>
              <a:t>老屋翻新潮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9260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5EF"/>
                </a:solidFill>
                <a:latin typeface="Microsoft JhengHei"/>
              </a:defRPr>
            </a:pPr>
            <a:r>
              <a:t>500 萬戶老屋加上政府 50 億補助</a:t>
            </a:r>
            <a:br/>
            <a:r>
              <a:t>案量增加但產能不變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9756"/>
                </a:solidFill>
                <a:latin typeface="Microsoft JhengHei"/>
              </a:defRPr>
            </a:pPr>
            <a:r>
              <a:t>報價失準代價更高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794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5EF"/>
                </a:solidFill>
                <a:latin typeface="Microsoft JhengHei"/>
              </a:defRPr>
            </a:pPr>
            <a:r>
              <a:t>材料成本上漲 6.8%</a:t>
            </a:r>
            <a:br/>
            <a:r>
              <a:t>報價少算就是直接賠錢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389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9756"/>
                </a:solidFill>
                <a:latin typeface="Microsoft JhengHei"/>
              </a:defRPr>
            </a:pPr>
            <a:r>
              <a:t>經驗傳承斷層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663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5EF"/>
                </a:solidFill>
                <a:latin typeface="Microsoft JhengHei"/>
              </a:defRPr>
            </a:pPr>
            <a:r>
              <a:t>資深設計師退休潮</a:t>
            </a:r>
            <a:br/>
            <a:r>
              <a:t>年輕人學不到也沒人教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25779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9756"/>
                </a:solidFill>
                <a:latin typeface="Microsoft JhengHei"/>
              </a:defRPr>
            </a:pPr>
            <a:r>
              <a:t>沒人做這件事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53211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5EF"/>
                </a:solidFill>
                <a:latin typeface="Microsoft JhengHei"/>
              </a:defRPr>
            </a:pPr>
            <a:r>
              <a:t>目前沒人從風險管理切入</a:t>
            </a:r>
            <a:br/>
            <a:r>
              <a:t>要趁空白搶先建立用戶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968E"/>
                </a:solidFill>
                <a:latin typeface="Microsoft JhengHei"/>
              </a:defRPr>
            </a:pPr>
            <a:r>
              <a:t>7/12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9756"/>
                </a:solidFill>
                <a:latin typeface="Microsoft JhengHei"/>
              </a:defRPr>
            </a:pPr>
            <a:r>
              <a:t>POCD 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0" cy="54864"/>
          </a:xfrm>
          <a:prstGeom prst="rect">
            <a:avLst/>
          </a:prstGeom>
          <a:solidFill>
            <a:srgbClr val="C4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49240" cy="246888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9756"/>
                </a:solidFill>
                <a:latin typeface="Microsoft JhengHei"/>
              </a:defRPr>
            </a:pPr>
            <a:r>
              <a:t>People 團隊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300"/>
              </a:spcBef>
              <a:defRPr sz="1300" b="0">
                <a:solidFill>
                  <a:srgbClr val="FAF5EF"/>
                </a:solidFill>
                <a:latin typeface="Microsoft JhengHei"/>
              </a:defRPr>
            </a:pPr>
            <a:r>
              <a:t>呂賀云：10 年以上設計師，她本人就是目標用戶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AF5EF"/>
                </a:solidFill>
                <a:latin typeface="Microsoft JhengHei"/>
              </a:defRPr>
            </a:pPr>
            <a:r>
              <a:t>高克瑋：10 年銷售營運經驗，iCHEF 銷售流程 AI 導入經驗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AF5EF"/>
                </a:solidFill>
                <a:latin typeface="Microsoft JhengHei"/>
              </a:defRPr>
            </a:pPr>
            <a:r>
              <a:t>擅長把專家知識變成可執行的系統</a:t>
            </a:r>
          </a:p>
          <a:p>
            <a:pPr algn="l">
              <a:spcBef>
                <a:spcPts val="600"/>
              </a:spcBef>
              <a:defRPr sz="1300" b="1">
                <a:solidFill>
                  <a:srgbClr val="C49756"/>
                </a:solidFill>
                <a:latin typeface="Microsoft JhengHei"/>
              </a:defRPr>
            </a:pPr>
            <a:r>
              <a:t>共同創辦人就是目標用戶，對市場的理解極深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80160"/>
            <a:ext cx="5349240" cy="246888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9756"/>
                </a:solidFill>
                <a:latin typeface="Microsoft JhengHei"/>
              </a:defRPr>
            </a:pPr>
            <a:r>
              <a:t>Opportunity 機會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3736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300"/>
              </a:spcBef>
              <a:defRPr sz="1300" b="0">
                <a:solidFill>
                  <a:srgbClr val="FAF5EF"/>
                </a:solidFill>
                <a:latin typeface="Microsoft JhengHei"/>
              </a:defRPr>
            </a:pPr>
            <a:r>
              <a:t>全台約 17,000 家設計公司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AF5EF"/>
                </a:solidFill>
                <a:latin typeface="Microsoft JhengHei"/>
              </a:defRPr>
            </a:pPr>
            <a:r>
              <a:t>目標客群：3 人以上中型公司約 3,000-4,000 家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AF5EF"/>
                </a:solidFill>
                <a:latin typeface="Microsoft JhengHei"/>
              </a:defRPr>
            </a:pPr>
            <a:r>
              <a:t>賀云的 13 家分公司加上 50+ 家直接人脈</a:t>
            </a:r>
          </a:p>
          <a:p>
            <a:pPr algn="l">
              <a:spcBef>
                <a:spcPts val="600"/>
              </a:spcBef>
              <a:defRPr sz="1300" b="1">
                <a:solidFill>
                  <a:srgbClr val="C49756"/>
                </a:solidFill>
                <a:latin typeface="Microsoft JhengHei"/>
              </a:defRPr>
            </a:pPr>
            <a:r>
              <a:t>從風險管理角度切入，目前沒有直接競品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349240" cy="246888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9756"/>
                </a:solidFill>
                <a:latin typeface="Microsoft JhengHei"/>
              </a:defRPr>
            </a:pPr>
            <a:r>
              <a:t>Context 環境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5196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8BA87E"/>
                </a:solidFill>
                <a:latin typeface="Microsoft JhengHei"/>
              </a:defRPr>
            </a:pPr>
            <a:r>
              <a:t>有利：老屋翻新潮、裝潢糾紛頻繁、部署成本趨近零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05C4C"/>
                </a:solidFill>
                <a:latin typeface="Microsoft JhengHei"/>
              </a:defRPr>
            </a:pPr>
            <a:r>
              <a:t>不利：設計業數位化程度低、各公司格式不統一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FAF5EF"/>
                </a:solidFill>
                <a:latin typeface="Microsoft JhengHei"/>
              </a:defRPr>
            </a:pPr>
            <a:r>
              <a:t>擴散方式：設計師自己覺得好用 → 推薦同事 → 公司導入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FAF5EF"/>
                </a:solidFill>
                <a:latin typeface="Microsoft JhengHei"/>
              </a:defRPr>
            </a:pPr>
            <a:r>
              <a:t>類似 Figma 的擴散路徑，從使用者端長出來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40480"/>
            <a:ext cx="5349240" cy="246888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9756"/>
                </a:solidFill>
                <a:latin typeface="Microsoft JhengHei"/>
              </a:defRPr>
            </a:pPr>
            <a:r>
              <a:t>Deal 商業模式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25196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FAF5EF"/>
                </a:solidFill>
                <a:latin typeface="Microsoft JhengHei"/>
              </a:defRPr>
            </a:pPr>
            <a:r>
              <a:t>免費版：個人設計師，註冊就能用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FAF5EF"/>
                </a:solidFill>
                <a:latin typeface="Microsoft JhengHei"/>
              </a:defRPr>
            </a:pPr>
            <a:r>
              <a:t>進階版：NT$ 990/月，分享給同事、更多範本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FAF5EF"/>
                </a:solidFill>
                <a:latin typeface="Microsoft JhengHei"/>
              </a:defRPr>
            </a:pPr>
            <a:r>
              <a:t>企業版：另議，覆核報告、多人管理、品牌 PDF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AF5EF"/>
                </a:solidFill>
                <a:latin typeface="Microsoft JhengHei"/>
              </a:defRPr>
            </a:pPr>
            <a:r>
              <a:t>擴張路徑：13 家分公司 → 50+ 家人脈 → 口碑擴散</a:t>
            </a:r>
          </a:p>
          <a:p>
            <a:pPr algn="l">
              <a:spcBef>
                <a:spcPts val="400"/>
              </a:spcBef>
              <a:defRPr sz="1200" b="1">
                <a:solidFill>
                  <a:srgbClr val="C49756"/>
                </a:solidFill>
                <a:latin typeface="Microsoft JhengHei"/>
              </a:defRPr>
            </a:pPr>
            <a:r>
              <a:t>獲客成本趨近零   部署成本趨近零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968E"/>
                </a:solidFill>
                <a:latin typeface="Microsoft JhengHei"/>
              </a:defRPr>
            </a:pPr>
            <a:r>
              <a:t>8/12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9756"/>
                </a:solidFill>
                <a:latin typeface="Microsoft JhengHei"/>
              </a:defRPr>
            </a:pPr>
            <a:r>
              <a:t>競爭格局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0" cy="54864"/>
          </a:xfrm>
          <a:prstGeom prst="rect">
            <a:avLst/>
          </a:prstGeom>
          <a:solidFill>
            <a:srgbClr val="C4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5EF"/>
                </a:solidFill>
                <a:latin typeface="Microsoft JhengHei"/>
              </a:defRPr>
            </a:pPr>
            <a:r>
              <a:t>每個玩家賣的是什麼承諾？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1570" y="1828800"/>
            <a:ext cx="12700" cy="420624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0" y="3925570"/>
            <a:ext cx="9144000" cy="12700"/>
          </a:xfrm>
          <a:prstGeom prst="rect">
            <a:avLst/>
          </a:prstGeom>
          <a:solidFill>
            <a:srgbClr val="5A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40050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A0968E"/>
                </a:solidFill>
                <a:latin typeface="Microsoft JhengHei"/>
              </a:defRPr>
            </a:pPr>
            <a:r>
              <a:t>通用工具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40050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968E"/>
                </a:solidFill>
                <a:latin typeface="Microsoft JhengHei"/>
              </a:defRPr>
            </a:pPr>
            <a:r>
              <a:t>室內設計專用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53619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0968E"/>
                </a:solidFill>
                <a:latin typeface="Microsoft JhengHei"/>
              </a:defRPr>
            </a:pPr>
            <a:r>
              <a:t>事前預防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608075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0968E"/>
                </a:solidFill>
                <a:latin typeface="Microsoft JhengHei"/>
              </a:defRPr>
            </a:pPr>
            <a:r>
              <a:t>事後管理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037283"/>
            <a:ext cx="2468880" cy="1097280"/>
          </a:xfrm>
          <a:prstGeom prst="roundRect">
            <a:avLst/>
          </a:prstGeom>
          <a:solidFill>
            <a:srgbClr val="4D3D28"/>
          </a:solidFill>
          <a:ln w="31750">
            <a:solidFill>
              <a:srgbClr val="C49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53527" y="2110435"/>
            <a:ext cx="2249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F5EF"/>
                </a:solidFill>
                <a:latin typeface="Microsoft JhengHei"/>
              </a:defRPr>
            </a:pPr>
            <a:r>
              <a:t>Q-Check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3527" y="2384755"/>
            <a:ext cx="2249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9756"/>
                </a:solidFill>
                <a:latin typeface="Microsoft JhengHei"/>
              </a:defRPr>
            </a:pPr>
            <a:r>
              <a:t>「這份報價有沒有埋地雷？」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7" y="2659075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E"/>
                </a:solidFill>
                <a:latin typeface="Microsoft JhengHei"/>
              </a:defRPr>
            </a:pPr>
            <a:r>
              <a:t>風險檢核 · 含/不含 · 專業判斷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900123"/>
            <a:ext cx="2743200" cy="1664208"/>
          </a:xfrm>
          <a:prstGeom prst="roundRect">
            <a:avLst/>
          </a:prstGeom>
          <a:noFill/>
          <a:ln w="19050">
            <a:solidFill>
              <a:srgbClr val="C4975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3161995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49756"/>
                </a:solidFill>
                <a:latin typeface="Microsoft JhengHei"/>
              </a:defRPr>
            </a:pPr>
            <a:r>
              <a:t>唯一的事前預防 × 設計專用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79" y="3849624"/>
            <a:ext cx="2103120" cy="1005840"/>
          </a:xfrm>
          <a:prstGeom prst="roundRect">
            <a:avLst/>
          </a:prstGeom>
          <a:solidFill>
            <a:srgbClr val="4A423C"/>
          </a:solidFill>
          <a:ln w="12700">
            <a:solidFill>
              <a:srgbClr val="7EA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207" y="3922776"/>
            <a:ext cx="1883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F5EF"/>
                </a:solidFill>
                <a:latin typeface="Microsoft JhengHei"/>
              </a:defRPr>
            </a:pPr>
            <a:r>
              <a:t>易裝修 EZid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7" y="4197096"/>
            <a:ext cx="1883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EA09F"/>
                </a:solidFill>
                <a:latin typeface="Microsoft JhengHei"/>
              </a:defRPr>
            </a:pPr>
            <a:r>
              <a:t>「案子跑更快、團隊不亂」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9207" y="4471416"/>
            <a:ext cx="18836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968E"/>
                </a:solidFill>
                <a:latin typeface="Microsoft JhengHei"/>
              </a:defRPr>
            </a:pPr>
            <a:r>
              <a:t>$1,200/月起 · 報價生成 · 流程管理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3344875"/>
            <a:ext cx="2103120" cy="1005840"/>
          </a:xfrm>
          <a:prstGeom prst="roundRect">
            <a:avLst/>
          </a:prstGeom>
          <a:solidFill>
            <a:srgbClr val="4A423C"/>
          </a:solidFill>
          <a:ln w="12700">
            <a:solidFill>
              <a:srgbClr val="A09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0088" y="3418027"/>
            <a:ext cx="1883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F5EF"/>
                </a:solidFill>
                <a:latin typeface="Microsoft JhengHei"/>
              </a:defRPr>
            </a:pPr>
            <a:r>
              <a:t>Excel 報價模板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0088" y="3692347"/>
            <a:ext cx="1883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E"/>
                </a:solidFill>
                <a:latin typeface="Microsoft JhengHei"/>
              </a:defRPr>
            </a:pPr>
            <a:r>
              <a:t>「我最懂自己的案子」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0088" y="3966667"/>
            <a:ext cx="18836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968E"/>
                </a:solidFill>
                <a:latin typeface="Microsoft JhengHei"/>
              </a:defRPr>
            </a:pPr>
            <a:r>
              <a:t>免費 · 70-80% 設計師在用 · 零檢核零傳承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60" y="4270248"/>
            <a:ext cx="2103120" cy="1005840"/>
          </a:xfrm>
          <a:prstGeom prst="roundRect">
            <a:avLst/>
          </a:prstGeom>
          <a:solidFill>
            <a:srgbClr val="4A423C"/>
          </a:solidFill>
          <a:ln w="12700">
            <a:solidFill>
              <a:srgbClr val="A09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90088" y="4343400"/>
            <a:ext cx="1883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F5EF"/>
                </a:solidFill>
                <a:latin typeface="Microsoft JhengHei"/>
              </a:defRPr>
            </a:pPr>
            <a:r>
              <a:t>LINE 群組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0088" y="4617720"/>
            <a:ext cx="1883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E"/>
                </a:solidFill>
                <a:latin typeface="Microsoft JhengHei"/>
              </a:defRPr>
            </a:pPr>
            <a:r>
              <a:t>「傳個訊息就搞定了」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90088" y="4892040"/>
            <a:ext cx="18836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968E"/>
                </a:solidFill>
                <a:latin typeface="Microsoft JhengHei"/>
              </a:defRPr>
            </a:pPr>
            <a:r>
              <a:t>免費 · 90% 在用 · 即時但無法追溯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4817059"/>
            <a:ext cx="2103120" cy="1005840"/>
          </a:xfrm>
          <a:prstGeom prst="roundRect">
            <a:avLst/>
          </a:prstGeom>
          <a:solidFill>
            <a:srgbClr val="4A423C"/>
          </a:solidFill>
          <a:ln w="12700">
            <a:solidFill>
              <a:srgbClr val="9A9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4890211"/>
            <a:ext cx="1883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F5EF"/>
                </a:solidFill>
                <a:latin typeface="Microsoft JhengHei"/>
              </a:defRPr>
            </a:pPr>
            <a:r>
              <a:t>100室內設計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5164531"/>
            <a:ext cx="1883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4D0"/>
                </a:solidFill>
                <a:latin typeface="Microsoft JhengHei"/>
              </a:defRPr>
            </a:pPr>
            <a:r>
              <a:t>「幫你找到下一個客戶」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62088" y="5438851"/>
            <a:ext cx="18836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968E"/>
                </a:solidFill>
                <a:latin typeface="Microsoft JhengHei"/>
              </a:defRPr>
            </a:pPr>
            <a:r>
              <a:t>消費者媒合平台 · 2,000+ 設計公司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0360" y="2377439"/>
            <a:ext cx="2103120" cy="1005840"/>
          </a:xfrm>
          <a:prstGeom prst="roundRect">
            <a:avLst/>
          </a:prstGeom>
          <a:solidFill>
            <a:srgbClr val="4A423C"/>
          </a:solidFill>
          <a:ln w="12700">
            <a:solidFill>
              <a:srgbClr val="7EA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90088" y="2450591"/>
            <a:ext cx="1883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F5EF"/>
                </a:solidFill>
                <a:latin typeface="Microsoft JhengHei"/>
              </a:defRPr>
            </a:pPr>
            <a:r>
              <a:t>元欣估價系統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90088" y="2724911"/>
            <a:ext cx="1883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EA09F"/>
                </a:solidFill>
                <a:latin typeface="Microsoft JhengHei"/>
              </a:defRPr>
            </a:pPr>
            <a:r>
              <a:t>「估價標準化不出錯」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90088" y="2999232"/>
            <a:ext cx="18836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968E"/>
                </a:solidFill>
                <a:latin typeface="Microsoft JhengHei"/>
              </a:defRPr>
            </a:pPr>
            <a:r>
              <a:t>單機版 · 通用工程 · 不懂裝修工法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60320" y="5099608"/>
            <a:ext cx="1828800" cy="777240"/>
          </a:xfrm>
          <a:prstGeom prst="roundRect">
            <a:avLst/>
          </a:prstGeom>
          <a:solidFill>
            <a:srgbClr val="4A423C"/>
          </a:solidFill>
          <a:ln w="12700">
            <a:solidFill>
              <a:srgbClr val="A09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70048" y="5172760"/>
            <a:ext cx="1609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F5EF"/>
                </a:solidFill>
                <a:latin typeface="Microsoft JhengHei"/>
              </a:defRPr>
            </a:pPr>
            <a:r>
              <a:t>Notion / Trello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70048" y="5447080"/>
            <a:ext cx="1609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968E"/>
                </a:solidFill>
                <a:latin typeface="Microsoft JhengHei"/>
              </a:defRPr>
            </a:pPr>
            <a:r>
              <a:t>「什麼都能管 = 什麼都不深」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968E"/>
                </a:solidFill>
                <a:latin typeface="Microsoft JhengHei"/>
              </a:defRPr>
            </a:pPr>
            <a:r>
              <a:t>9/12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9756"/>
                </a:solidFill>
                <a:latin typeface="Microsoft JhengHei"/>
              </a:defRPr>
            </a:pPr>
            <a:r>
              <a:t>精實畫布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54864"/>
          </a:xfrm>
          <a:prstGeom prst="rect">
            <a:avLst/>
          </a:prstGeom>
          <a:solidFill>
            <a:srgbClr val="C4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822960"/>
            <a:ext cx="2148840" cy="292608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5C4C"/>
                </a:solidFill>
                <a:latin typeface="Microsoft JhengHei"/>
              </a:defRPr>
            </a:pPr>
            <a:r>
              <a:t>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78992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1. 報價寫了但雙方對「含什麼」理解不同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2. 保護、清運、防水等項目常被遺漏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3. 資深設計師大量時間花在覆核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0968E"/>
                </a:solidFill>
                <a:latin typeface="Microsoft JhengHei"/>
              </a:defRPr>
            </a:pPr>
            <a:r>
              <a:t>現有替代方案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A0968E"/>
                </a:solidFill>
                <a:latin typeface="Microsoft JhengHei"/>
              </a:defRPr>
            </a:pPr>
            <a:r>
              <a:t>Excel 模板、口頭傳承、出事後檢討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35224" y="822960"/>
            <a:ext cx="2148840" cy="292608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6664" y="868680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9756"/>
                </a:solidFill>
                <a:latin typeface="Microsoft JhengHei"/>
              </a:defRPr>
            </a:pPr>
            <a:r>
              <a:t>解決方案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4" y="1078992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1. 含/不含欄位強制寫清楚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2. 25 條以上工序連動規則即時提醒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3. 預算可行性快篩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4. 風險報告讓資深只看需判斷的部分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5. 專業判斷機制（覆寫加註原因）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8928" y="822960"/>
            <a:ext cx="2148840" cy="292608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868680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9756"/>
                </a:solidFill>
                <a:latin typeface="Microsoft JhengHei"/>
              </a:defRPr>
            </a:pPr>
            <a:r>
              <a:t>獨特價值主張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1078992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FAF5EF"/>
                </a:solidFill>
                <a:latin typeface="Microsoft JhengHei"/>
              </a:defRPr>
            </a:pPr>
            <a:r>
              <a:t>讓報價階段的錯誤，不留到施工階段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A0968E"/>
                </a:solidFill>
                <a:latin typeface="Microsoft JhengHei"/>
              </a:defRPr>
            </a:pPr>
            <a:r>
              <a:t>不是報價工具，是風險管理系統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A0968E"/>
                </a:solidFill>
                <a:latin typeface="Microsoft JhengHei"/>
              </a:defRPr>
            </a:pPr>
            <a:r>
              <a:t>培養設計師的底氣，不是取代設計師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10312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49756"/>
                </a:solidFill>
                <a:latin typeface="Microsoft JhengHei"/>
              </a:defRPr>
            </a:pPr>
            <a:r>
              <a:t>不公平競爭優勢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28600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賀云本人就是目標用戶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10 年實戰知識已編碼為規則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用戶使用就會產生乾淨數據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早期靠產業知識壁壘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C49756"/>
                </a:solidFill>
                <a:latin typeface="Microsoft JhengHei"/>
              </a:defRPr>
            </a:pPr>
            <a:r>
              <a:t>中期靠知識飛輪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42632" y="822960"/>
            <a:ext cx="1828800" cy="292608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4072" y="8686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EA09F"/>
                </a:solidFill>
                <a:latin typeface="Microsoft JhengHei"/>
              </a:defRPr>
            </a:pPr>
            <a:r>
              <a:t>關鍵指標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72" y="1078992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追加金額變化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覆核時間變化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報價來回修改次數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每月活躍專案數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專業判斷使用頻率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26296" y="822960"/>
            <a:ext cx="2148840" cy="292608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17736" y="868680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A87E"/>
                </a:solidFill>
                <a:latin typeface="Microsoft JhengHei"/>
              </a:defRPr>
            </a:pPr>
            <a:r>
              <a:t>目標客群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6" y="1078992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C49756"/>
                </a:solidFill>
                <a:latin typeface="Microsoft JhengHei"/>
              </a:defRPr>
            </a:pPr>
            <a:r>
              <a:t>使用者：設計師（先免費用起來）</a:t>
            </a:r>
          </a:p>
          <a:p>
            <a:pPr algn="l">
              <a:spcBef>
                <a:spcPts val="200"/>
              </a:spcBef>
              <a:defRPr sz="1000" b="1">
                <a:solidFill>
                  <a:srgbClr val="C49756"/>
                </a:solidFill>
                <a:latin typeface="Microsoft JhengHei"/>
              </a:defRPr>
            </a:pPr>
            <a:r>
              <a:t>付費者：進階功能的設計師或公司</a:t>
            </a:r>
          </a:p>
          <a:p>
            <a:pPr algn="l">
              <a:spcBef>
                <a:spcPts val="200"/>
              </a:spcBef>
              <a:defRPr sz="4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3 人以上的中型設計公司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年輕設計師需要資深覆核的團隊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7736" y="228600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0968E"/>
                </a:solidFill>
                <a:latin typeface="Microsoft JhengHei"/>
              </a:defRPr>
            </a:pPr>
            <a:r>
              <a:t>通路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246888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A0968E"/>
                </a:solidFill>
                <a:latin typeface="Microsoft JhengHei"/>
              </a:defRPr>
            </a:pPr>
            <a:r>
              <a:t>設計師自己覺得好用，推薦同事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A0968E"/>
                </a:solidFill>
                <a:latin typeface="Microsoft JhengHei"/>
              </a:defRPr>
            </a:pPr>
            <a:r>
              <a:t>13 家分公司作為第一批種子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A0968E"/>
                </a:solidFill>
                <a:latin typeface="Microsoft JhengHei"/>
              </a:defRPr>
            </a:pPr>
            <a:r>
              <a:t>50+ 家人脈口碑擴散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803904"/>
            <a:ext cx="5422392" cy="164592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84962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5C4C"/>
                </a:solidFill>
                <a:latin typeface="Microsoft JhengHei"/>
              </a:defRPr>
            </a:pPr>
            <a:r>
              <a:t>成本結構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059936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開發人力（高克瑋，機會成本）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伺服器託管費用趨近零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A0968E"/>
                </a:solidFill>
                <a:latin typeface="Microsoft JhengHei"/>
              </a:defRPr>
            </a:pPr>
            <a:r>
              <a:t>燒錢率極低，目前不需外部資金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3803904"/>
            <a:ext cx="5422392" cy="164592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0216" y="384962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A87E"/>
                </a:solidFill>
                <a:latin typeface="Microsoft JhengHei"/>
              </a:defRPr>
            </a:pPr>
            <a:r>
              <a:t>收入來源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4059936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免費版：個人設計師，註冊就能用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進階版：NT$ 990/月，分享同事、更多範本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FAF5EF"/>
                </a:solidFill>
                <a:latin typeface="Microsoft JhengHei"/>
              </a:defRPr>
            </a:pPr>
            <a:r>
              <a:t>企業版：另議，覆核報告、多人管理、品牌 PDF</a:t>
            </a:r>
          </a:p>
          <a:p>
            <a:pPr algn="l">
              <a:spcBef>
                <a:spcPts val="300"/>
              </a:spcBef>
              <a:defRPr sz="1000" b="1">
                <a:solidFill>
                  <a:srgbClr val="C49756"/>
                </a:solidFill>
                <a:latin typeface="Microsoft JhengHei"/>
              </a:defRPr>
            </a:pPr>
            <a:r>
              <a:t>一次漏項損失 10-30 萬，月費 NT$ 990 幾乎零風險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8B4A"/>
                </a:solidFill>
                <a:latin typeface="Microsoft JhengHei"/>
              </a:defRPr>
            </a:pPr>
            <a:r>
              <a:t>最高風險：設計師願意離開 Excel 嗎？做法：先讓設計師免費用，好用自然擴散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968E"/>
                </a:solidFill>
                <a:latin typeface="Microsoft JhengHei"/>
              </a:defRPr>
            </a:pPr>
            <a:r>
              <a:t>10/12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9756"/>
                </a:solidFill>
                <a:latin typeface="Microsoft JhengHei"/>
              </a:defRPr>
            </a:pPr>
            <a:r>
              <a:t>為什麼是我們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0" cy="54864"/>
          </a:xfrm>
          <a:prstGeom prst="rect">
            <a:avLst/>
          </a:prstGeom>
          <a:solidFill>
            <a:srgbClr val="C4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5EF"/>
                </a:solidFill>
                <a:latin typeface="Microsoft JhengHei"/>
              </a:defRPr>
            </a:pPr>
            <a:r>
              <a:t>共同創辦人就是目標用戶本人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029200" cy="256032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49756"/>
                </a:solidFill>
                <a:latin typeface="Microsoft JhengHei"/>
              </a:defRPr>
            </a:pPr>
            <a:r>
              <a:t>呂賀云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68E"/>
                </a:solidFill>
                <a:latin typeface="Microsoft JhengHei"/>
              </a:defRPr>
            </a:pPr>
            <a:r>
              <a:t>共同創辦人 / 產品定義 / 設計師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400"/>
              </a:spcBef>
              <a:defRPr sz="1500" b="0">
                <a:solidFill>
                  <a:srgbClr val="FAF5EF"/>
                </a:solidFill>
                <a:latin typeface="Microsoft JhengHei"/>
              </a:defRPr>
            </a:pPr>
            <a:r>
              <a:t>10 年以上室內設計實戰經驗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FAF5EF"/>
                </a:solidFill>
                <a:latin typeface="Microsoft JhengHei"/>
              </a:defRPr>
            </a:pPr>
            <a:r>
              <a:t>她親身經歷了所有痛點，她就是用戶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FAF5EF"/>
                </a:solidFill>
                <a:latin typeface="Microsoft JhengHei"/>
              </a:defRPr>
            </a:pPr>
            <a:r>
              <a:t>定義了產品哲學和 25 條以上的風險規則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FAF5EF"/>
                </a:solidFill>
                <a:latin typeface="Microsoft JhengHei"/>
              </a:defRPr>
            </a:pPr>
            <a:r>
              <a:t>13 家分公司是天然的第一批用戶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5212080" cy="256032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49756"/>
                </a:solidFill>
                <a:latin typeface="Microsoft JhengHei"/>
              </a:defRPr>
            </a:pPr>
            <a:r>
              <a:t>高克瑋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68E"/>
                </a:solidFill>
                <a:latin typeface="Microsoft JhengHei"/>
              </a:defRPr>
            </a:pPr>
            <a:r>
              <a:t>技術創辦人 / 銷售營運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54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400"/>
              </a:spcBef>
              <a:defRPr sz="1500" b="0">
                <a:solidFill>
                  <a:srgbClr val="FAF5EF"/>
                </a:solidFill>
                <a:latin typeface="Microsoft JhengHei"/>
              </a:defRPr>
            </a:pPr>
            <a:r>
              <a:t>iCHEF Sales Ops Director 經驗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FAF5EF"/>
                </a:solidFill>
                <a:latin typeface="Microsoft JhengHei"/>
              </a:defRPr>
            </a:pPr>
            <a:r>
              <a:t>擅長把專家知識變成可執行的系統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FAF5EF"/>
                </a:solidFill>
                <a:latin typeface="Microsoft JhengHei"/>
              </a:defRPr>
            </a:pPr>
            <a:r>
              <a:t>獨立完成最小可行產品開發，不需外部資金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0698480" cy="137160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212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9756"/>
                </a:solidFill>
                <a:latin typeface="Microsoft JhengHei"/>
              </a:defRPr>
            </a:pPr>
            <a:r>
              <a:t>壁壘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5321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300"/>
              </a:spcBef>
              <a:defRPr sz="1400" b="0">
                <a:solidFill>
                  <a:srgbClr val="FAF5EF"/>
                </a:solidFill>
                <a:latin typeface="Microsoft JhengHei"/>
              </a:defRPr>
            </a:pPr>
            <a:r>
              <a:t>早期：專家知識 — 10 年經驗不是三個月能複製的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A0968E"/>
                </a:solidFill>
                <a:latin typeface="Microsoft JhengHei"/>
              </a:defRPr>
            </a:pPr>
            <a:r>
              <a:t>     重點不是複製規則，是複製「知道哪些規則重要」的判斷力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C49756"/>
                </a:solidFill>
                <a:latin typeface="Microsoft JhengHei"/>
              </a:defRPr>
            </a:pPr>
            <a:r>
              <a:t>中期：每一家新客戶在報價上的回饋都讓系統更好，對下一家客戶更有價值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968E"/>
                </a:solidFill>
                <a:latin typeface="Microsoft JhengHei"/>
              </a:defRPr>
            </a:pPr>
            <a:r>
              <a:t>11/12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9756"/>
                </a:solidFill>
                <a:latin typeface="Microsoft JhengHei"/>
              </a:defRPr>
            </a:pPr>
            <a:r>
              <a:t>驗證計畫和風險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0" cy="54864"/>
          </a:xfrm>
          <a:prstGeom prst="rect">
            <a:avLst/>
          </a:prstGeom>
          <a:solidFill>
            <a:srgbClr val="C4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5EF"/>
                </a:solidFill>
                <a:latin typeface="Microsoft JhengHei"/>
              </a:defRPr>
            </a:pPr>
            <a:r>
              <a:t>我們知道什麼還沒被驗證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698480" cy="77724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423160"/>
            <a:ext cx="822960" cy="457200"/>
          </a:xfrm>
          <a:prstGeom prst="roundRect">
            <a:avLst/>
          </a:prstGeom>
          <a:solidFill>
            <a:srgbClr val="C0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F5EF"/>
                </a:solidFill>
                <a:latin typeface="Microsoft JhengHei"/>
              </a:defRPr>
            </a:pPr>
            <a:r>
              <a:t>致命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40487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F5EF"/>
                </a:solidFill>
                <a:latin typeface="Microsoft JhengHei"/>
              </a:defRPr>
            </a:pPr>
            <a:r>
              <a:t>設計師願意把報價從 Excel 搬到新系統嗎？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40487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68E"/>
                </a:solidFill>
                <a:latin typeface="Microsoft JhengHei"/>
              </a:defRPr>
            </a:pPr>
            <a:r>
              <a:t>賀云公司實測 2 週，觀察使用完成率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10698480" cy="77724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383280"/>
            <a:ext cx="822960" cy="457200"/>
          </a:xfrm>
          <a:prstGeom prst="roundRect">
            <a:avLst/>
          </a:prstGeom>
          <a:solidFill>
            <a:srgbClr val="C0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1071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F5EF"/>
                </a:solidFill>
                <a:latin typeface="Microsoft JhengHei"/>
              </a:defRPr>
            </a:pPr>
            <a:r>
              <a:t>致命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3649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F5EF"/>
                </a:solidFill>
                <a:latin typeface="Microsoft JhengHei"/>
              </a:defRPr>
            </a:pPr>
            <a:r>
              <a:t>其他設計公司有一樣的痛點，而且願意付費嗎？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36499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68E"/>
                </a:solidFill>
                <a:latin typeface="Microsoft JhengHei"/>
              </a:defRPr>
            </a:pPr>
            <a:r>
              <a:t>5 家訪談加上 3-5 家測試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10698480" cy="77724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343400"/>
            <a:ext cx="822960" cy="457200"/>
          </a:xfrm>
          <a:prstGeom prst="roundRect">
            <a:avLst/>
          </a:prstGeom>
          <a:solidFill>
            <a:srgbClr val="D4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7083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F5EF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32511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F5EF"/>
                </a:solidFill>
                <a:latin typeface="Microsoft JhengHei"/>
              </a:defRPr>
            </a:pPr>
            <a:r>
              <a:t>含/不含機制真的能減少客戶追加糾紛嗎？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32511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68E"/>
                </a:solidFill>
                <a:latin typeface="Microsoft JhengHei"/>
              </a:defRPr>
            </a:pPr>
            <a:r>
              <a:t>追蹤 3 個案子的追加金額，和歷史平均比較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66360"/>
            <a:ext cx="10698480" cy="777240"/>
          </a:xfrm>
          <a:prstGeom prst="roundRect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5303520"/>
            <a:ext cx="822960" cy="457200"/>
          </a:xfrm>
          <a:prstGeom prst="roundRect">
            <a:avLst/>
          </a:prstGeom>
          <a:solidFill>
            <a:srgbClr val="C4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3095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F5EF"/>
                </a:solidFill>
                <a:latin typeface="Microsoft JhengHei"/>
              </a:defRPr>
            </a:pPr>
            <a:r>
              <a:t>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28523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F5EF"/>
                </a:solidFill>
                <a:latin typeface="Microsoft JhengHei"/>
              </a:defRPr>
            </a:pPr>
            <a:r>
              <a:t>風險報告能讓覆核時間明顯縮短嗎？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28523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68E"/>
                </a:solidFill>
                <a:latin typeface="Microsoft JhengHei"/>
              </a:defRPr>
            </a:pPr>
            <a:r>
              <a:t>賀云實測覆核 5 份報告，計時比較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760720"/>
            <a:ext cx="10698480" cy="685800"/>
          </a:xfrm>
          <a:prstGeom prst="roundRect">
            <a:avLst/>
          </a:prstGeom>
          <a:solidFill>
            <a:srgbClr val="2E3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9756"/>
                </a:solidFill>
                <a:latin typeface="Microsoft JhengHei"/>
              </a:defRPr>
            </a:pPr>
            <a:r>
              <a:t>初步實測：覆核時間從 30 分鐘降至 10 分鐘（賀云測試 5 份報告）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097280" cy="73152"/>
          </a:xfrm>
          <a:prstGeom prst="rect">
            <a:avLst/>
          </a:prstGeom>
          <a:solidFill>
            <a:srgbClr val="C4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49756"/>
                </a:solidFill>
                <a:latin typeface="Microsoft JhengHei"/>
              </a:defRPr>
            </a:pPr>
            <a: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AF5EF"/>
                </a:solidFill>
                <a:latin typeface="Microsoft JhengHei"/>
              </a:defRPr>
            </a:pPr>
          </a:p>
          <a:p>
            <a:pPr algn="l">
              <a:spcBef>
                <a:spcPts val="1600"/>
              </a:spcBef>
              <a:defRPr sz="2200" b="0">
                <a:solidFill>
                  <a:srgbClr val="FAF5EF"/>
                </a:solidFill>
                <a:latin typeface="Microsoft JhengHei"/>
              </a:defRPr>
            </a:pPr>
            <a:r>
              <a:t>1.  最小可行產品預計 4-5 週內上線</a:t>
            </a:r>
          </a:p>
          <a:p>
            <a:pPr algn="l">
              <a:spcBef>
                <a:spcPts val="1600"/>
              </a:spcBef>
              <a:defRPr sz="2200" b="0">
                <a:solidFill>
                  <a:srgbClr val="FAF5EF"/>
                </a:solidFill>
                <a:latin typeface="Microsoft JhengHei"/>
              </a:defRPr>
            </a:pPr>
            <a:r>
              <a:t>2.  賀云公司內部用真實案件測試</a:t>
            </a:r>
          </a:p>
          <a:p>
            <a:pPr algn="l">
              <a:spcBef>
                <a:spcPts val="1600"/>
              </a:spcBef>
              <a:defRPr sz="2200" b="0">
                <a:solidFill>
                  <a:srgbClr val="FAF5EF"/>
                </a:solidFill>
                <a:latin typeface="Microsoft JhengHei"/>
              </a:defRPr>
            </a:pPr>
            <a:r>
              <a:t>3.  徵求 3-5 家設計公司加入測試</a:t>
            </a:r>
          </a:p>
          <a:p>
            <a:pPr algn="l">
              <a:spcBef>
                <a:spcPts val="1600"/>
              </a:spcBef>
              <a:defRPr sz="2200" b="1">
                <a:solidFill>
                  <a:srgbClr val="C49756"/>
                </a:solidFill>
                <a:latin typeface="Microsoft JhengHei"/>
              </a:defRPr>
            </a:pPr>
            <a:r>
              <a:t>4.  希望業師引薦設計公司老闆或產業資源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968E"/>
                </a:solidFill>
                <a:latin typeface="Microsoft JhengHei"/>
              </a:defRPr>
            </a:pPr>
            <a:r>
              <a:t>Q-Check — 室內裝修公司的風險管理決策系統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68E"/>
                </a:solidFill>
                <a:latin typeface="Microsoft JhengHei"/>
              </a:defRPr>
            </a:pPr>
            <a:r>
              <a:t>第六組：呂賀云  /  高克瑋  ·  hello@qcheck.tw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