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2522"/>
                </a:solidFill>
                <a:latin typeface="Microsoft JhengHei"/>
              </a:defRPr>
            </a:pPr>
            <a:r>
              <a:t>Q-Check 競爭格局：每個玩家賣的是什麼承諾？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1570" y="1280160"/>
            <a:ext cx="12700" cy="4937760"/>
          </a:xfrm>
          <a:prstGeom prst="rect">
            <a:avLst/>
          </a:prstGeom>
          <a:solidFill>
            <a:srgbClr val="D0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3742689"/>
            <a:ext cx="9144000" cy="12700"/>
          </a:xfrm>
          <a:prstGeom prst="rect">
            <a:avLst/>
          </a:prstGeom>
          <a:solidFill>
            <a:srgbClr val="D0C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79475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8A827A"/>
                </a:solidFill>
                <a:latin typeface="Microsoft JhengHei"/>
              </a:defRPr>
            </a:pPr>
            <a:r>
              <a:t>通用工具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379475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27A"/>
                </a:solidFill>
                <a:latin typeface="Microsoft JhengHei"/>
              </a:defRPr>
            </a:pPr>
            <a:r>
              <a:t>室內設計專用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9601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A827A"/>
                </a:solidFill>
                <a:latin typeface="Microsoft JhengHei"/>
              </a:defRPr>
            </a:pPr>
            <a:r>
              <a:t>事前預防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6236207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A827A"/>
                </a:solidFill>
                <a:latin typeface="Microsoft JhengHei"/>
              </a:defRPr>
            </a:pPr>
            <a:r>
              <a:t>事後管理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19" y="1597456"/>
            <a:ext cx="2377440" cy="1143000"/>
          </a:xfrm>
          <a:prstGeom prst="roundRect">
            <a:avLst/>
          </a:prstGeom>
          <a:solidFill>
            <a:srgbClr val="FDF3E0"/>
          </a:solidFill>
          <a:ln w="31750">
            <a:solidFill>
              <a:srgbClr val="EF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670608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2522"/>
                </a:solidFill>
                <a:latin typeface="Microsoft JhengHei"/>
              </a:defRPr>
            </a:pPr>
            <a:r>
              <a:t>Q-Check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1944928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F9F27"/>
                </a:solidFill>
                <a:latin typeface="Microsoft JhengHei"/>
              </a:defRPr>
            </a:pPr>
            <a:r>
              <a:t>「這份報價有沒有埋地雷？」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7" y="2237536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827A"/>
                </a:solidFill>
                <a:latin typeface="Microsoft JhengHei"/>
              </a:defRPr>
            </a:pPr>
            <a:r>
              <a:t>風險檢核 · 含/不含 · 專業判斷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1460296"/>
            <a:ext cx="2651760" cy="1737360"/>
          </a:xfrm>
          <a:prstGeom prst="roundRect">
            <a:avLst/>
          </a:prstGeom>
          <a:noFill/>
          <a:ln w="19050">
            <a:solidFill>
              <a:srgbClr val="EF9F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278617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F9F27"/>
                </a:solidFill>
                <a:latin typeface="Microsoft JhengHei"/>
              </a:defRPr>
            </a:pPr>
            <a:r>
              <a:t>唯一的事前預防 × 設計專用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18280"/>
            <a:ext cx="2011680" cy="1051560"/>
          </a:xfrm>
          <a:prstGeom prst="roundRect">
            <a:avLst/>
          </a:prstGeom>
          <a:solidFill>
            <a:srgbClr val="E8F8F0"/>
          </a:solidFill>
          <a:ln w="12700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69143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2522"/>
                </a:solidFill>
                <a:latin typeface="Microsoft JhengHei"/>
              </a:defRPr>
            </a:pPr>
            <a:r>
              <a:t>易裝修 EZid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396575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DCAA5"/>
                </a:solidFill>
                <a:latin typeface="Microsoft JhengHei"/>
              </a:defRPr>
            </a:pPr>
            <a:r>
              <a:t>「案子跑更快、團隊不亂」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4258360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$1,200/月起 · 報價生成 · 流程管理 · 收支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3124504"/>
            <a:ext cx="2011680" cy="1051560"/>
          </a:xfrm>
          <a:prstGeom prst="roundRect">
            <a:avLst/>
          </a:prstGeom>
          <a:solidFill>
            <a:srgbClr val="F5F3F0"/>
          </a:solidFill>
          <a:ln w="12700">
            <a:solidFill>
              <a:srgbClr val="C8C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319765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2522"/>
                </a:solidFill>
                <a:latin typeface="Microsoft JhengHei"/>
              </a:defRPr>
            </a:pPr>
            <a:r>
              <a:t>Excel 報價模板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47197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8A827A"/>
                </a:solidFill>
                <a:latin typeface="Microsoft JhengHei"/>
              </a:defRPr>
            </a:pPr>
            <a:r>
              <a:t>「我最懂自己的案子」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764584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免費 · 70-80% 設計師在用 · 零檢核零傳承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79" y="4210812"/>
            <a:ext cx="2011680" cy="1051560"/>
          </a:xfrm>
          <a:prstGeom prst="roundRect">
            <a:avLst/>
          </a:prstGeom>
          <a:solidFill>
            <a:srgbClr val="F5F3F0"/>
          </a:solidFill>
          <a:ln w="12700">
            <a:solidFill>
              <a:srgbClr val="C8C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428396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2522"/>
                </a:solidFill>
                <a:latin typeface="Microsoft JhengHei"/>
              </a:defRPr>
            </a:pPr>
            <a:r>
              <a:t>LINE 群組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4558283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8A827A"/>
                </a:solidFill>
                <a:latin typeface="Microsoft JhengHei"/>
              </a:defRPr>
            </a:pPr>
            <a:r>
              <a:t>「傳個訊息就搞定了」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4850892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免費 · 90% 在用 · 即時但無法追溯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803343"/>
            <a:ext cx="2011680" cy="1051560"/>
          </a:xfrm>
          <a:prstGeom prst="roundRect">
            <a:avLst/>
          </a:prstGeom>
          <a:solidFill>
            <a:srgbClr val="F0EEFB"/>
          </a:solidFill>
          <a:ln w="12700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4876495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2522"/>
                </a:solidFill>
                <a:latin typeface="Microsoft JhengHei"/>
              </a:defRPr>
            </a:pPr>
            <a:r>
              <a:t>100室內設計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5150815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AFA9EC"/>
                </a:solidFill>
                <a:latin typeface="Microsoft JhengHei"/>
              </a:defRPr>
            </a:pPr>
            <a:r>
              <a:t>「幫你找到下一個客戶」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5443423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B2C 媒合平台 · 2,000+ 設計公司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79" y="2087575"/>
            <a:ext cx="2011680" cy="10515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35808" y="2160727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2522"/>
                </a:solidFill>
                <a:latin typeface="Microsoft JhengHei"/>
              </a:defRPr>
            </a:pPr>
            <a:r>
              <a:t>元欣估價系統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2435047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85B7EB"/>
                </a:solidFill>
                <a:latin typeface="Microsoft JhengHei"/>
              </a:defRPr>
            </a:pPr>
            <a:r>
              <a:t>「估價標準化不出錯」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727655"/>
            <a:ext cx="1792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單機版 · 通用工程 · 不懂裝修工法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39" y="5236768"/>
            <a:ext cx="1737360" cy="777240"/>
          </a:xfrm>
          <a:prstGeom prst="roundRect">
            <a:avLst/>
          </a:prstGeom>
          <a:solidFill>
            <a:srgbClr val="F5F3F0"/>
          </a:solidFill>
          <a:ln w="12700">
            <a:solidFill>
              <a:srgbClr val="C8C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530992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522"/>
                </a:solidFill>
                <a:latin typeface="Microsoft JhengHei"/>
              </a:defRPr>
            </a:pPr>
            <a:r>
              <a:t>Notion / Trello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58424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A827A"/>
                </a:solidFill>
                <a:latin typeface="Microsoft JhengHei"/>
              </a:defRPr>
            </a:pPr>
            <a:r>
              <a:t>「什麼都能管 = 什麼都不深」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5943600"/>
            <a:ext cx="182880" cy="182880"/>
          </a:xfrm>
          <a:prstGeom prst="round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5925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風險預防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89920" y="5943600"/>
            <a:ext cx="182880" cy="182880"/>
          </a:xfrm>
          <a:prstGeom prst="round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8520" y="5925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流程加速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161520" y="5943600"/>
            <a:ext cx="182880" cy="182880"/>
          </a:xfrm>
          <a:prstGeom prst="roundRect">
            <a:avLst/>
          </a:prstGeom>
          <a:solidFill>
            <a:srgbClr val="85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90120" y="5925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通用工具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533120" y="5943600"/>
            <a:ext cx="182880" cy="182880"/>
          </a:xfrm>
          <a:prstGeom prst="roundRect">
            <a:avLst/>
          </a:prstGeom>
          <a:solidFill>
            <a:srgbClr val="C8C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61720" y="5925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27A"/>
                </a:solidFill>
                <a:latin typeface="Microsoft JhengHei"/>
              </a:defRPr>
            </a:pPr>
            <a:r>
              <a:t>替代方案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